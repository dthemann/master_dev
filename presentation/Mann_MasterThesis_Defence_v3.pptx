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6" d="100"/>
          <a:sy n="126" d="100"/>
        </p:scale>
        <p:origin x="30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01.02.2022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Master's thesis defence deck, 15 slides. Framing for an examiner from computer</a:t>
            </a:r>
          </a:p>
          <a:p>
            <a:r>
              <a:t>science rather than structural biology: docking is treated throughout as a</a:t>
            </a:r>
          </a:p>
          <a:p>
            <a:r>
              <a:t>retrieval-and-ranking problem over 3-D poses, with a physics-based search on one</a:t>
            </a:r>
          </a:p>
          <a:p>
            <a:r>
              <a:t>side and two learned generative or regression models on the other.</a:t>
            </a:r>
          </a:p>
          <a:p>
            <a:r>
              <a:t>Thesis title: Whole-Protein Docking with AutoDock Vina, DiffDock and EquiBind.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examiner challenge: "isn't this just AI versus physics?" No. Each arm is a</a:t>
            </a:r>
          </a:p>
          <a:p>
            <a:r>
              <a:t>pipeline, and the pipeline cannot be decomposed. The AutoDock arm is Vina search</a:t>
            </a:r>
          </a:p>
          <a:p>
            <a:r>
              <a:t>at exhaustiveness 128 followed by a gnina CNN re-ranking pass, so it already</a:t>
            </a:r>
          </a:p>
          <a:p>
            <a:r>
              <a:t>contains a learned component. The honest claim is a ranking of three configured</a:t>
            </a:r>
          </a:p>
          <a:p>
            <a:r>
              <a:t>workflows on this benchmark.</a:t>
            </a:r>
          </a:p>
          <a:p>
            <a:r>
              <a:t>Second challenge: why these three tools? Vina is the established baseline,</a:t>
            </a:r>
          </a:p>
          <a:p>
            <a:r>
              <a:t>DiffDock is the leading diffusion model and EquiBind the reference one-shot</a:t>
            </a:r>
          </a:p>
          <a:p>
            <a:r>
              <a:t>regression model. Newer co-folding systems were out of scope and are named in</a:t>
            </a:r>
          </a:p>
          <a:p>
            <a:r>
              <a:t>the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CS translation to offer out loud: a docking tool is a candidate generator plus</a:t>
            </a:r>
          </a:p>
          <a:p>
            <a:r>
              <a:t>a ranker. RMSD is the distance to the labelled answer, PoseBusters is a hard</a:t>
            </a:r>
          </a:p>
          <a:p>
            <a:r>
              <a:t>feasibility constraint, and rank-1 versus best-of-top-k is exactly precision@1</a:t>
            </a:r>
          </a:p>
          <a:p>
            <a:r>
              <a:t>versus recall@k. Everything downstream is that distinction.</a:t>
            </a:r>
          </a:p>
          <a:p>
            <a:r>
              <a:t>Anticipated question: why refine the AI outputs at all, does that not change what</a:t>
            </a:r>
          </a:p>
          <a:p>
            <a:r>
              <a:t>is being measured? It does, and that is RQ2. Both raw and refined numbers are</a:t>
            </a:r>
          </a:p>
          <a:p>
            <a:r>
              <a:t>reported, and the refined arm is the fair one because Vina minimises its poses</a:t>
            </a:r>
          </a:p>
          <a:p>
            <a:r>
              <a:t>during its own search, so the raw comparison would be the unfair one.</a:t>
            </a:r>
          </a:p>
          <a:p>
            <a:r>
              <a:t>Anticipated question about parity: the EquiBind arm generated its input conformers</a:t>
            </a:r>
          </a:p>
          <a:p>
            <a:r>
              <a:t>with a different generator than the other two arms. This is disclosed in the</a:t>
            </a:r>
          </a:p>
          <a:p>
            <a:r>
              <a:t>appendix and is a genuine residual non-parity.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datasets do different jobs. The benchmark has labels and therefore</a:t>
            </a:r>
          </a:p>
          <a:p>
            <a:r>
              <a:t>supports accuracy claims. Orai1 has no label and therefore supports only an</a:t>
            </a:r>
          </a:p>
          <a:p>
            <a:r>
              <a:t>operational claim about admissibility and placement.</a:t>
            </a:r>
          </a:p>
          <a:p>
            <a:r>
              <a:t>Anticipated question: is the Orai1 arm underpowered? Yes, and it is reported that</a:t>
            </a:r>
          </a:p>
          <a:p>
            <a:r>
              <a:t>way. Three ligands and four correlated frames of one trajectory. Every cross-panel</a:t>
            </a:r>
          </a:p>
          <a:p>
            <a:r>
              <a:t>contrast is re-tested at ligand level, and almost none survives.</a:t>
            </a:r>
          </a:p>
          <a:p>
            <a:r>
              <a:t>Anticipated question: is cognate re-docking on the benchmark harder or easier than</a:t>
            </a:r>
          </a:p>
          <a:p>
            <a:r>
              <a:t>Orai1? Easier. Each benchmark complex is docked back into its own crystal</a:t>
            </a:r>
          </a:p>
          <a:p>
            <a:r>
              <a:t>receptor, whereas Orai1 uses non-cognate snapshots of a homology model. The</a:t>
            </a:r>
          </a:p>
          <a:p>
            <a:r>
              <a:t>benchmark numbers bound the Orai1 expectation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RQ2 and the single largest effect in the thesis, over 70</a:t>
            </a:r>
          </a:p>
          <a:p>
            <a:r>
              <a:t>percentage points of pooled validity between Vina and the raw learned output.</a:t>
            </a:r>
          </a:p>
          <a:p>
            <a:r>
              <a:t>Anticipated and important challenge: is this comparison circular? Partly, and the</a:t>
            </a:r>
          </a:p>
          <a:p>
            <a:r>
              <a:t>thesis says so. The discriminating PoseBusters checks are intermolecular distance</a:t>
            </a:r>
          </a:p>
          <a:p>
            <a:r>
              <a:t>checks, and they inspect coordinates that Vina has already minimised against a</a:t>
            </a:r>
          </a:p>
          <a:p>
            <a:r>
              <a:t>closely related objective. The margin is therefore partly constitutive. The</a:t>
            </a:r>
          </a:p>
          <a:p>
            <a:r>
              <a:t>mitigation is that requiring validity removes at most four of 303 complexes from</a:t>
            </a:r>
          </a:p>
          <a:p>
            <a:r>
              <a:t>the headline endpoint, so it changes the ranking hardly at all.</a:t>
            </a:r>
          </a:p>
          <a:p>
            <a:r>
              <a:t>Second challenge: raw versus rescored hydrogen handling. Both arms are rebuilt</a:t>
            </a:r>
          </a:p>
          <a:p>
            <a:r>
              <a:t>from a bond-order template and PoseBusters adds the hydrogen shell itself, so the</a:t>
            </a:r>
          </a:p>
          <a:p>
            <a:r>
              <a:t>two sides are measured on the same footing.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panels are the same 303 complexes and the same poses, scored on two axes.</a:t>
            </a:r>
          </a:p>
          <a:p>
            <a:r>
              <a:t>Left is in-place RMSD, which mixes where the ligand sits with what shape it has.</a:t>
            </a:r>
          </a:p>
          <a:p>
            <a:r>
              <a:t>Right is best-fit RMSD, which superimposes the two molecules first and therefore</a:t>
            </a:r>
          </a:p>
          <a:p>
            <a:r>
              <a:t>reports the internal conformation alone.</a:t>
            </a:r>
          </a:p>
          <a:p>
            <a:r>
              <a:t>Read them together. AutoDock leads on the left from top-5 onwards and ties on the</a:t>
            </a:r>
          </a:p>
          <a:p>
            <a:r>
              <a:t>right everywhere, so the difference between the two leaders is rigid-body, not</a:t>
            </a:r>
          </a:p>
          <a:p>
            <a:r>
              <a:t>conformer quality. DiffDock builds the right shape and seats it less well, which</a:t>
            </a:r>
          </a:p>
          <a:p>
            <a:r>
              <a:t>is consistent with its generative treatment of translation, rotation and torsion.</a:t>
            </a:r>
          </a:p>
          <a:p>
            <a:r>
              <a:t>Be precise about the word placement if it comes up. In-place RMSD is measured in</a:t>
            </a:r>
          </a:p>
          <a:p>
            <a:r>
              <a:t>the crystal's frame with no superposition, so it carries translation, orientation</a:t>
            </a:r>
          </a:p>
          <a:p>
            <a:r>
              <a:t>and conformation together. Best-fit RMSD superimposes first, so it carries</a:t>
            </a:r>
          </a:p>
          <a:p>
            <a:r>
              <a:t>conformation alone. Placement is never measured directly. It is the residual, the</a:t>
            </a:r>
          </a:p>
          <a:p>
            <a:r>
              <a:t>square root of in-place squared minus form squared, and that residual bundles</a:t>
            </a:r>
          </a:p>
          <a:p>
            <a:r>
              <a:t>orientation with position. A ligand sitting in the right pocket but flipped end</a:t>
            </a:r>
          </a:p>
          <a:p>
            <a:r>
              <a:t>for end therefore counts as placement-limited even though it is correctly</a:t>
            </a:r>
          </a:p>
          <a:p>
            <a:r>
              <a:t>localised. The metric that actually tests location is the 4 Angstrom centroid</a:t>
            </a:r>
          </a:p>
          <a:p>
            <a:r>
              <a:t>clustering two slides later.</a:t>
            </a:r>
          </a:p>
          <a:p>
            <a:r>
              <a:t>Anticipated challenge, and a fair one: AutoDock was tuned. It ran a ladder of five</a:t>
            </a:r>
          </a:p>
          <a:p>
            <a:r>
              <a:t>exhaustiveness values and the top rung was carried forward, while the two learned</a:t>
            </a:r>
          </a:p>
          <a:p>
            <a:r>
              <a:t>arms were only given a choice of refiner. The winner's-curse correction is between</a:t>
            </a:r>
          </a:p>
          <a:p>
            <a:r>
              <a:t>0.4 and 0.8 percentage points per family and the largest selection margin is 3.0</a:t>
            </a:r>
          </a:p>
          <a:p>
            <a:r>
              <a:t>points, so it does not overturn the ordering, but the comparison is a tuned</a:t>
            </a:r>
          </a:p>
          <a:p>
            <a:r>
              <a:t>pipeline against two untuned ones.</a:t>
            </a:r>
          </a:p>
          <a:p>
            <a:r>
              <a:t>Anticipated challenge: no held-out split. Correct, variant selection and</a:t>
            </a:r>
          </a:p>
          <a:p>
            <a:r>
              <a:t>evaluation use the same 303 complexes.</a:t>
            </a:r>
          </a:p>
          <a:p>
            <a:r>
              <a:t>Anticipated challenge: is the non-significant rank-1 result equivalence? No. The</a:t>
            </a:r>
          </a:p>
          <a:p>
            <a:r>
              <a:t>minimum detectable difference there is 9.8 points at 80% power and no equivalence</a:t>
            </a:r>
          </a:p>
          <a:p>
            <a:r>
              <a:t>margin was prespecified.</a:t>
            </a:r>
          </a:p>
          <a:p>
            <a:r>
              <a:t>Anticipated challenge: the 1 Angstrom form threshold is not a published</a:t>
            </a:r>
          </a:p>
          <a:p>
            <a:r>
              <a:t>convention. Correct, it was fixed before analysis as half the 2 Angstrom in-place</a:t>
            </a:r>
          </a:p>
          <a:p>
            <a:r>
              <a:t>threshold, and the next slide plus the appendix resolve it across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numeric backup for the previous slide and the one to turn to if the</a:t>
            </a:r>
          </a:p>
          <a:p>
            <a:r>
              <a:t>examiner asks for anything the curves do not show.</a:t>
            </a:r>
          </a:p>
          <a:p>
            <a:r>
              <a:t>What to point out. Rows one and two show that tightening the distance threshold</a:t>
            </a:r>
          </a:p>
          <a:p>
            <a:r>
              <a:t>from 2 to 1 Angstrom widens the AutoDock lead at rank-1, from 2.6 to 6.6 points,</a:t>
            </a:r>
          </a:p>
          <a:p>
            <a:r>
              <a:t>so the leaders are closer at the conventional threshold than at a strict one.</a:t>
            </a:r>
          </a:p>
          <a:p>
            <a:r>
              <a:t>Rows three and four show the form tie surviving both thresholds, and DiffDock is</a:t>
            </a:r>
          </a:p>
          <a:p>
            <a:r>
              <a:t>in fact nominally ahead at 2 Angstrom.</a:t>
            </a:r>
          </a:p>
          <a:p>
            <a:r>
              <a:t>Row five is the coarsest criterion, a cluster centroid within 4 Angstroms of the</a:t>
            </a:r>
          </a:p>
          <a:p>
            <a:r>
              <a:t>crystal pocket, and it is where every tool scores highest. Reaching the pocket is</a:t>
            </a:r>
          </a:p>
          <a:p>
            <a:r>
              <a:t>much easier than nominating the pose.</a:t>
            </a:r>
          </a:p>
          <a:p>
            <a:r>
              <a:t>Rows six to eight are pose-level, not complex-level, and they are the diagnostic</a:t>
            </a:r>
          </a:p>
          <a:p>
            <a:r>
              <a:t>rows. AutoDock's median in-place RMSD moves from 1.49 to 5.04 Angstroms between</a:t>
            </a:r>
          </a:p>
          <a:p>
            <a:r>
              <a:t>rank-1 and top-15 while DiffDock moves from 1.47 to 1.93, so deeper AutoDock ranks</a:t>
            </a:r>
          </a:p>
          <a:p>
            <a:r>
              <a:t>add correctly shaped but badly placed ligands. Its placement-limited share rises</a:t>
            </a:r>
          </a:p>
          <a:p>
            <a:r>
              <a:t>from 48 to 78 percent, which is the same statement in a different currency.</a:t>
            </a:r>
          </a:p>
          <a:p>
            <a:r>
              <a:t>Caveat to volunteer: the last three rows use a near-site cohort, trimmed to poses</a:t>
            </a:r>
          </a:p>
          <a:p>
            <a:r>
              <a:t>within 8 Angstroms of the crystal ligand, so they describe the poses that landed</a:t>
            </a:r>
          </a:p>
          <a:p>
            <a:r>
              <a:t>near the right place and are not comparable with the first five rows.</a:t>
            </a:r>
          </a:p>
          <a:p>
            <a:r>
              <a:t>Second caveat: the in-place and best-fit values each minimise over</a:t>
            </a:r>
          </a:p>
          <a:p>
            <a:r>
              <a:t>symmetry-equivalent atom mappings independently, so the placement decomposition is</a:t>
            </a:r>
          </a:p>
          <a:p>
            <a:r>
              <a:t>approximate. It is also a residual rather than a measurement, and it bundles</a:t>
            </a:r>
          </a:p>
          <a:p>
            <a:r>
              <a:t>orientation with position, so a correctly located but rotated pose lands in the</a:t>
            </a:r>
          </a:p>
          <a:p>
            <a:r>
              <a:t>placement-limited bin.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retrieval framing lands well here. Pooling every candidate from every tool</a:t>
            </a:r>
          </a:p>
          <a:p>
            <a:r>
              <a:t>almost always contains the right pocket. The unsolved problem is ranking that</a:t>
            </a:r>
          </a:p>
          <a:p>
            <a:r>
              <a:t>pocket first without a reference, which is a re-ranking problem, not a sampling</a:t>
            </a:r>
          </a:p>
          <a:p>
            <a:r>
              <a:t>problem.</a:t>
            </a:r>
          </a:p>
          <a:p>
            <a:r>
              <a:t>Note on the 95% number: it is a cluster-level oracle at a 4 Angstrom centroid</a:t>
            </a:r>
          </a:p>
          <a:p>
            <a:r>
              <a:t>threshold, which is much coarser than a valid pose within 2 Angstrom. It must not</a:t>
            </a:r>
          </a:p>
          <a:p>
            <a:r>
              <a:t>be quoted as 95% pose accuracy, and the slide deliberately labels it as an oracle.</a:t>
            </a:r>
          </a:p>
          <a:p>
            <a:r>
              <a:t>On Jaccard: it counts shared and non-shared contacts, so it is a similarity, not a</a:t>
            </a:r>
          </a:p>
          <a:p>
            <a:r>
              <a:t>recall. At rank-1 the two leaders are not separable on contact F1 either, and</a:t>
            </a:r>
          </a:p>
          <a:p>
            <a:r>
              <a:t>DiffDock's lead exists only for the union of its top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quotable Orai1 result and also the most attackable, so present</a:t>
            </a:r>
          </a:p>
          <a:p>
            <a:r>
              <a:t>the caveat yourself before the examiner does.</a:t>
            </a:r>
          </a:p>
          <a:p>
            <a:r>
              <a:t>Three separate caveats. First, the exclusion slab is a modelling hypothesis. It</a:t>
            </a:r>
          </a:p>
          <a:p>
            <a:r>
              <a:t>encodes an outer-pore binding hypothesis and may well reject valid GSK-7975A or</a:t>
            </a:r>
          </a:p>
          <a:p>
            <a:r>
              <a:t>Synta-66 poses, since both act at or near the pore mouth. Second, the two panels</a:t>
            </a:r>
          </a:p>
          <a:p>
            <a:r>
              <a:t>were capped by different selection rules. The experimental ten poses are the</a:t>
            </a:r>
          </a:p>
          <a:p>
            <a:r>
              <a:t>gnina-best of thirty searched modes, the control ten are all that were written.</a:t>
            </a:r>
          </a:p>
          <a:p>
            <a:r>
              <a:t>Matching that moves the AutoDock loss from 28.7 to 17.0 points and its adjusted</a:t>
            </a:r>
          </a:p>
          <a:p>
            <a:r>
              <a:t>p from 5.6e-4 to above 0.2. Third, the between-tool reversal disappears entirely</a:t>
            </a:r>
          </a:p>
          <a:p>
            <a:r>
              <a:t>on the Vina prefix, so it is an artefact of the gnina ranker.</a:t>
            </a:r>
          </a:p>
          <a:p>
            <a:r>
              <a:t>If asked whether the recovered residues validate the published Synta-66 site: no.</a:t>
            </a:r>
          </a:p>
          <a:p>
            <a:r>
              <a:t>A decoy control contacts the same residues at the same rate, so the concordance</a:t>
            </a:r>
          </a:p>
          <a:p>
            <a:r>
              <a:t>is not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result, and a useful one. The intuitive safeguard, trusting a pose</a:t>
            </a:r>
          </a:p>
          <a:p>
            <a:r>
              <a:t>because two independent methods agree on it, does not survive contact with a large</a:t>
            </a:r>
          </a:p>
          <a:p>
            <a:r>
              <a:t>elongated membrane protein.</a:t>
            </a:r>
          </a:p>
          <a:p>
            <a:r>
              <a:t>Anticipated question: could this be a coordinate-frame or symmetry artefact? Both</a:t>
            </a:r>
          </a:p>
          <a:p>
            <a:r>
              <a:t>were tested. All three tools dock into the same receptor file per frame, so</a:t>
            </a:r>
          </a:p>
          <a:p>
            <a:r>
              <a:t>within-frame comparisons share one coordinate system with no folding applied, and</a:t>
            </a:r>
          </a:p>
          <a:p>
            <a:r>
              <a:t>the six-fold symmetry fold changes the median by two Angstroms.</a:t>
            </a:r>
          </a:p>
          <a:p>
            <a:r>
              <a:t>Anticipated question: does filtering to valid, outside-slab poses tighten the</a:t>
            </a:r>
          </a:p>
          <a:p>
            <a:r>
              <a:t>clouds? No, not detectably. Filtering improves bootstrap reproducibility but not</a:t>
            </a:r>
          </a:p>
          <a:p>
            <a:r>
              <a:t>spread. Note that no equivalence test was run, so this bounds the filtering effect</a:t>
            </a:r>
          </a:p>
          <a:p>
            <a:r>
              <a:t>rather than proving the scatter is intrinsic.</a:t>
            </a:r>
          </a:p>
          <a:p>
            <a:r>
              <a:t>Statistical honesty point: eleven evaluable experimental pairs. This is</a:t>
            </a:r>
          </a:p>
          <a:p>
            <a:r>
              <a:t>descriptive, not a corrected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accounting basis is the part an examiner will press on, so state it first.</a:t>
            </a:r>
          </a:p>
          <a:p>
            <a:r>
              <a:t>Charging device occupancy rather than wall clock stops work that merely ran with</a:t>
            </a:r>
          </a:p>
          <a:p>
            <a:r>
              <a:t>more concurrency from looking cheaper. The gnina pass ran sixteen ways in</a:t>
            </a:r>
          </a:p>
          <a:p>
            <a:r>
              <a:t>parallel and finished in 0.74 wall-hours, and charging it that way would have</a:t>
            </a:r>
          </a:p>
          <a:p>
            <a:r>
              <a:t>flattered AutoDock to 5.47 total hours instead of 15.00.</a:t>
            </a:r>
          </a:p>
          <a:p>
            <a:r>
              <a:t>Anticipated challenge: cost conditional on success favours whoever fails most.</a:t>
            </a:r>
          </a:p>
          <a:p>
            <a:r>
              <a:t>True, and it is stated. EquiBind's 2.4 s describes only its 80 successful</a:t>
            </a:r>
          </a:p>
          <a:p>
            <a:r>
              <a:t>complexes and it fails on the other 223. The alternative denominators are also</a:t>
            </a:r>
          </a:p>
          <a:p>
            <a:r>
              <a:t>reported and none of them changes the ordering.</a:t>
            </a:r>
          </a:p>
          <a:p>
            <a:r>
              <a:t>Anticipated challenge: the rescorer was invoked once per pose, so each call paid</a:t>
            </a:r>
          </a:p>
          <a:p>
            <a:r>
              <a:t>process start-up on a mostly idle GPU. That is an implementation artefact.</a:t>
            </a:r>
          </a:p>
          <a:p>
            <a:r>
              <a:t>Batching would reduce it by an amount this run does not determine.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two answers separable. RQ1 is a ranking of pipelines with an explicit</a:t>
            </a:r>
          </a:p>
          <a:p>
            <a:r>
              <a:t>unresolved case. RQ2 is a mechanism claim, and the mechanism is repair plus</a:t>
            </a:r>
          </a:p>
          <a:p>
            <a:r>
              <a:t>re-ordering, never generation.</a:t>
            </a:r>
          </a:p>
          <a:p>
            <a:r>
              <a:t>The single most likely examiner question on this slide: "so is AutoDock better?"</a:t>
            </a:r>
          </a:p>
          <a:p>
            <a:r>
              <a:t>The defensible answer is that on this benchmark, under blind whole-protein search,</a:t>
            </a:r>
          </a:p>
          <a:p>
            <a:r>
              <a:t>with the variants carried forward, AutoDock has the higher point estimate</a:t>
            </a:r>
          </a:p>
          <a:p>
            <a:r>
              <a:t>everywhere and a statistically separable lead only from top-5 onwards. It is not</a:t>
            </a:r>
          </a:p>
          <a:p>
            <a:r>
              <a:t>a claim about physics-based docking in general, and the AutoDock arm is itself</a:t>
            </a:r>
          </a:p>
          <a:p>
            <a:r>
              <a:t>CNN-rescored, so it is not even a pure physics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depends entirely on the denominator, so name it before quoting the numbers.</a:t>
            </a:r>
          </a:p>
          <a:p>
            <a:r>
              <a:t>RQ4 is deliberately a workflow answer rather than a winner, because the failure</a:t>
            </a:r>
          </a:p>
          <a:p>
            <a:r>
              <a:t>modes are not the same failure mode. AutoDock fails by mis-ranking a pool that</a:t>
            </a:r>
          </a:p>
          <a:p>
            <a:r>
              <a:t>contains the answer, DiffDock fails by not localising, EquiBind fails by not</a:t>
            </a:r>
          </a:p>
          <a:p>
            <a:r>
              <a:t>generating anything usable.</a:t>
            </a:r>
          </a:p>
          <a:p>
            <a:r>
              <a:t>If pressed on why blind whole-protein search was chosen when Vina normally gets a</a:t>
            </a:r>
          </a:p>
          <a:p>
            <a:r>
              <a:t>box: because DiffDock and EquiBind localise the ligand themselves, so giving Vina</a:t>
            </a:r>
          </a:p>
          <a:p>
            <a:r>
              <a:t>a pocket would have handed it information the others earn. This is stricter than</a:t>
            </a:r>
          </a:p>
          <a:p>
            <a:r>
              <a:t>blind benchmarks that supply a predicted pocket, and a predicted-pocket Vina arm</a:t>
            </a:r>
          </a:p>
          <a:p>
            <a:r>
              <a:t>would be the right intermediate comparison. It was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workflow, not on a winner. The examiner should leave with the four</a:t>
            </a:r>
          </a:p>
          <a:p>
            <a:r>
              <a:t>separated failure modes, since that is the transferable contribution and it</a:t>
            </a:r>
          </a:p>
          <a:p>
            <a:r>
              <a:t>survives the arrival of the next generation of models.</a:t>
            </a:r>
          </a:p>
          <a:p>
            <a:r>
              <a:t>If asked for the single most useful practical finding: one cheap local</a:t>
            </a:r>
          </a:p>
          <a:p>
            <a:r>
              <a:t>minimisation pass converts most learned output from physically impossible to</a:t>
            </a:r>
          </a:p>
          <a:p>
            <a:r>
              <a:t>admissible, at a cost that is negligible next to the generation step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limitations rather than waiting to be asked. The strongest examiner</a:t>
            </a:r>
          </a:p>
          <a:p>
            <a:r>
              <a:t>criticisms are already on this slide, which converts them from attacks into</a:t>
            </a:r>
          </a:p>
          <a:p>
            <a:r>
              <a:t>evidence of judgement.</a:t>
            </a:r>
          </a:p>
          <a:p>
            <a:r>
              <a:t>Two further limits worth having ready but not on the slide. Receptor preparation</a:t>
            </a:r>
          </a:p>
          <a:p>
            <a:r>
              <a:t>stripped waters, ions, metals and cofactors for the AutoDock and DiffDock arms,</a:t>
            </a:r>
          </a:p>
          <a:p>
            <a:r>
              <a:t>and a metal sits within 5 Angstroms of the crystal ligand in 78 of the 303</a:t>
            </a:r>
          </a:p>
          <a:p>
            <a:r>
              <a:t>complexes, so a quarter of the set is scored without a coordinating partner the</a:t>
            </a:r>
          </a:p>
          <a:p>
            <a:r>
              <a:t>native pose depends on. The AutoDock lead at top-15 is +6.7 points on the 225</a:t>
            </a:r>
          </a:p>
          <a:p>
            <a:r>
              <a:t>metal-free complexes against +20.5 on the 78 metal-adjacent ones, so the pooled</a:t>
            </a:r>
          </a:p>
          <a:p>
            <a:r>
              <a:t>contrast averages a narrow gap with a much wider one.</a:t>
            </a:r>
          </a:p>
          <a:p>
            <a:r>
              <a:t>Second, the interaction profiler is blind to chlorine and bromine in its halogen</a:t>
            </a:r>
          </a:p>
          <a:p>
            <a:r>
              <a:t>test, so any halogen-bond result is discounted.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00649C"/>
                </a:solidFill>
              </a:rPr>
              <a:t>Whole-Protein Docking with AutoDock Vina, DiffDock and EquiBind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252000" y="2659502"/>
            <a:ext cx="8640000" cy="960120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Physical validity and near-nativeness across ranking depth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72777A"/>
                </a:solidFill>
                <a:latin typeface="Arial"/>
              </a:rPr>
              <a:t>Dominik Mann   |   MSc Artificial Intelligence Engineering   |   FH Technikum Wien   |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Motivation and 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Docking predicts where and how a small molecule binds a protein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It is the cheap triage step before any laboratory work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AI docking claims large gains in speed and accuracy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Published comparisons judge a single nominated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Search budgets are rarely matched across the competing tools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plausibility of the pose is often not checked at all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No published comparison covers the Orai1 calcium channel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RQ1  Physical validity, near-nativeness and ranking depth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RQ2  What post-docking optimisation actually changes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RQ3  Computational cost per usable result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RQ4  Opportunities and limits of blind whole-protein docking</a:t>
            </a:r>
          </a:p>
          <a:p>
            <a:pPr marL="0" indent="0">
              <a:spcBef>
                <a:spcPts val="140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649C"/>
                </a:solidFill>
                <a:latin typeface="Arial"/>
              </a:rPr>
              <a:t>Scope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72777A"/>
                </a:solidFill>
                <a:latin typeface="Arial"/>
              </a:rPr>
              <a:t>Each question is asked of three configured pipelines, not of “AI versus physics” as method classes. Every workflow couples a search or a model to a preparation, a refiner and a ranking rule.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Tools, Pipeline and Metrics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18288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Ligand + receptor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whole protein, no pocket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 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Vina / DiffDock / EquiBind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Local optimisation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smina or gnina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PoseBusters filter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22 physics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Ranking + 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rank-1 and top-k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77393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351129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524865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698601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2880" y="1481328"/>
            <a:ext cx="41605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AutoDock Vina, stochastic search over an empirical score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DiffDock, diffusion model with a learned confidence rank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EquiBind, one forward pass, produces no score of its own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smina and gnina relax every pose, gnina also re-ranks 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None of the three receives a binding site, the box is the whole protein</a:t>
            </a:r>
          </a:p>
          <a:p>
            <a:pPr marL="0" indent="0">
              <a:spcBef>
                <a:spcPts val="80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* in every figure marks the carried-forward variant: Vina exh128 + gnina, DiffDock + smina, EquiBind + gnina.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481328"/>
            <a:ext cx="434340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Near-native, in-place RMSD ≤ 2 Å, position, orientation and shape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Form, best-fit (Kabsch) RMSD ≤ 1 Å, shape only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PB-valid, passes all 22 reference-free physics and chemistry checks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Headline endpoint, PB-valid and ≤ 2 Å together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Ranking depth, rank-1 against best-of-top-k, precision@1 against recall@k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Cost, one charged basis, CPU-core-seconds / 32 threads + GPU-seconds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Two Datasets: Calibrate, Then Apply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03504"/>
            <a:ext cx="3703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308 high-quality crystal complexes released after 2021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303 analysed, DiffDock produced nothing for 5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complex carries a ground-truth ligand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Median ligand: 24 heavy atoms, 359 Da, 5 rotatable bonds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Answers RQ1 to RQ3, because accuracy is measurable here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Post-2021 release reduces temporal overlap with training data but does not exclude homologous pockets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603504"/>
            <a:ext cx="2880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Calcium channel, no ligand-bound structure exists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4 molecular-dynamics snapshots × 3 known modulators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Control panel: the 308 benchmark ligands × 4 frames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 RMSD is possible without a reference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Endpoint is operational: valid, on the receptor, outside the pore slab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Effective independent observations: three ligands</a:t>
            </a:r>
          </a:p>
        </p:txBody>
      </p:sp>
      <p:pic>
        <p:nvPicPr>
          <p:cNvPr id="16" name="Picture 1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95672"/>
            <a:ext cx="1783080" cy="12948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272491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72777A"/>
                </a:solidFill>
                <a:latin typeface="Arial"/>
              </a:rPr>
              <a:t>Orai1 hexamer viewed down the pore. Yellow spheres mark the transmembrane exclusion slab.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One Optimisation Pass Makes Learned Poses Legal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Raw output fails the physics checks almost everywhere, DiffDock at a 13% median and EquiBind at 0%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single local minimisation lifts them to 93% and 80%, gains of +62 and +58 percentage points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has no headroom, it already minimises every pose during its own search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2" y="1243584"/>
            <a:ext cx="6466114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Geometry is repaired, placement is not. Accuracy at a fixed rank moves by at most a few points, so optimisation cannot supply a binding mode that was never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Placement and Form Separate the Tools Differently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8521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649C"/>
                </a:solidFill>
                <a:latin typeface="Arial"/>
              </a:rPr>
              <a:t>Position, orientation and shape   ·   in-place RMSD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8521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649C"/>
                </a:solidFill>
                <a:latin typeface="Arial"/>
              </a:rPr>
              <a:t>Shape only, after superposition   ·   best-fit RMSD</a:t>
            </a:r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29" y="822960"/>
            <a:ext cx="3734981" cy="3054096"/>
          </a:xfrm>
          <a:prstGeom prst="rect">
            <a:avLst/>
          </a:prstGeom>
        </p:spPr>
      </p:pic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06" y="822960"/>
            <a:ext cx="3700746" cy="3054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" y="393192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Placement at rank-1: AutoDock 36.6%, DiffDock 34.0%, EquiBind 18.2%, and the two leaders are not separable there</a:t>
            </a:r>
          </a:p>
          <a:p>
            <a:pPr marL="182880" indent="-182880">
              <a:spcBef>
                <a:spcPts val="20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Form at rank-1: 52.5%, 52.1% and 33.3%, a tie between the leaders at every depth, so the gap is rigid-body, not conformer quality</a:t>
            </a:r>
          </a:p>
          <a:p>
            <a:pPr marL="182880" indent="-182880">
              <a:spcBef>
                <a:spcPts val="20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Depth lifts both curves, but six in ten rank-1 failures hold no qualifying pose at any depth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Fairness caveat: AutoDock was tuned over five search budgets, the two learned arms only over a choice of refiner.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All Criteria at Rank-1 and Top-15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2880" y="640080"/>
          <a:ext cx="877824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8064"/>
                <a:gridCol w="996696"/>
                <a:gridCol w="996696"/>
                <a:gridCol w="996696"/>
                <a:gridCol w="996696"/>
                <a:gridCol w="996696"/>
                <a:gridCol w="996696"/>
              </a:tblGrid>
              <a:tr h="237744">
                <a:tc rowSpan="2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AutoDock*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DiffDock*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EquiBind*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</a:tr>
              <a:tr h="237744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Valid near-native, RMSD ≤ 2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36.6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34.0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55.1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18.2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26.4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Strict near-native, RMSD ≤ 1 Å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15.5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30.0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Form, best-fit RMSD ≤ 1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52.5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71.9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52.1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72.3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51.2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Form, best-fit RMSD ≤ 2 Å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93.4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82.5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95.7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79.9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Crystal pocket reached, ≤ 4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Median in-place RMSD (Å)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5.04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1.93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2.98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4.07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Median best-fit RMSD (Å)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1.12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1.34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Placement-limited poses (%)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77.8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40.9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70.2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2880" y="3529584"/>
            <a:ext cx="8778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Placement separates the two leaders, form does not, on the same poses at the same depth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AutoDock's median in-place RMSD degrades from 1.5 to 5.0 Å with depth, so its ranking is informative only near the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059936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Selected variants: AutoDock Vina exh128 + gnina, DiffDock + smina, EquiBind unguided + gnina. The first five rows are the percentage of 303 complexes holding at least one PoseBusters-valid pose that meets the criterion within the depth. The last three describe PoseBusters-valid poses lying within 8 Å of the crystal site. Placement-limited is a residual of the two RMSD measures and bundles orientation with position, so it is not a statement about the pocket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Finding the Pocket Is the Easy Part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site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52844"/>
            <a:ext cx="4892040" cy="31417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676656"/>
            <a:ext cx="37033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Retrospectively, the pooled cloud of all three tools contains the crystal pocket for 95% of complexes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best cheap blind rule ranks that pocket first in only 57%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38-point gap in selection, not in accuracy</a:t>
            </a:r>
          </a:p>
          <a:p>
            <a:pPr marL="0" indent="0">
              <a:spcBef>
                <a:spcPts val="13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00649C"/>
                </a:solidFill>
                <a:latin typeface="Arial"/>
              </a:rPr>
              <a:t>Contact fidelity</a:t>
            </a:r>
          </a:p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Interaction-fingerprint overlap with the crystal, top-5 union: DiffDock 0.45, AutoDock 0.42, EquiBind 0.38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two leaders resemble each other more (0.46) than either resembles the crystal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Different contact hypotheses, so agreement between tools is not evidence of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 Orai1, Physical Validity Overstates Usefulness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All 120 AutoDock poses pass the physics checks, yet only 54% are usable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DiffDock is less valid at 93% and more usable at 68%, EquiBind keeps 1 of 120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failure is placement, not chemistry, the rejected poses sit in the pore</a:t>
            </a:r>
          </a:p>
        </p:txBody>
      </p:sp>
      <p:pic>
        <p:nvPicPr>
          <p:cNvPr id="15" name="Picture 14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75" y="1243584"/>
            <a:ext cx="5358449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The reversal is a property of the secondary ranker, not of the search. Capping AutoDock on its raw Vina order instead of the gnina re-ranking returns it to 75% and removes the reversal.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The Tools Do Not Agree on Where the Ligand Binds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Median distance between two tools' consensus sites is about 30 Å on the controls and 33 to 44 Å on the modulators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and DiffDock land within 5 Å in 14% of control pairs and none of 11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Six-fold channel symmetry does not explain it, folding onto the nearest copy moves the median only to 27.3 Å</a:t>
            </a:r>
          </a:p>
        </p:txBody>
      </p:sp>
      <p:pic>
        <p:nvPicPr>
          <p:cNvPr id="15" name="Picture 14" descr="orai_agreement_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5" y="1243584"/>
            <a:ext cx="490347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Consensus between independent tools is therefore not usable as a confidence signal on this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Cost per Usable Pose Spans Two Orders of Magnitude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2482"/>
            <a:ext cx="4754880" cy="352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60" y="694944"/>
            <a:ext cx="37947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2.4 s, DiffDock 49.4 s, AutoDock 137.2 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One basis for all three, CPU-core-seconds / 32 threads + GPU-seconds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Success rates differ, 80, 169 and 199 complexes out of 303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68.5% of the AutoDock cost is the gnina rescoring pass, not the search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alone needs 21.7 s and no GPU, cheaper than DiffDock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AutoDock buys coverage and admissibility, not economy. EquiBind's figure is a floor, conditional on succeeding a quarter of the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RQ1 and RQ2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Rank-1 valid near-native: 36.6%, 34.0% and 18.2%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Best-of-top-15: 65.3%, 55.1% and 26.4%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leaders separate only from top-5 onwards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Pooled physical validity: 98.9%, 84.5% and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Both leaders are decisively ahead of EquiBind everywhere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Rank-1 is unresolved, not shown to be equivalent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The ordering is conditional on search effort, AutoDock ran the top rung of a five-value ladder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 validity rises from 24.4% raw to 84.5%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rises from 2.9% to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Accuracy at a fixed rank moves by only 0.1 to 4.6 points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gnina re-ranking lifts AutoDock rank-1 from 31.0% to 36.6%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Optimisation repairs geometry and re-orders a pool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It cannot create a binding mode that was never sampled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Refiner choice, smina against gnina, was not statistically separable within either family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RQ3 and RQ4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2.4 s, 49.4 s and 137.2 s per qualifying pose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Configured AutoDock is dearest on every currency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Learned rescoring is 68.5% of that total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Removing gnina puts Vina below DiffDock on charged time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still has by far the highest CPU cost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Describes these implementations and this hardware, not method classes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three tools fail in different ways, which favours a staged workflow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Generate, optimise, screen validity and placement, then rank for the endpoint you care about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Generation and localisation dominate failure, not ranking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Blind whole-protein search is harder than published site-centred re-docking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Refined DiffDock and AutoDock Vina are complementary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EquiBind gives too little coverage for routine use in this configuration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What the Study Establishes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40080"/>
            <a:ext cx="5349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Under blind whole-protein search a tuned classical pipeline still matches or beats two learned ones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Post-hoc physical optimisation is what makes learned poses admissible, and it is cheap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Rank-1 and best-of-top-k tell different stories, so report both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validity is an admissibility filter, never evidence of binding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Without a reference structure, validity has to be paired with an explicit placement rule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Agreement between independent tools is not a confidence signal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The contribution is a separation of sampling, ranking, validity and localisation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822960"/>
            <a:ext cx="3200400" cy="1188720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Recommended workflow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777A"/>
                </a:solidFill>
                <a:latin typeface="Arial"/>
              </a:rPr>
              <a:t>generate → optimise → screen validity and placement → rank for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402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and refined DiffDock as complementary hypothesis generators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EquiBind not in this configuration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Retain uncertainty wherever the two disagree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Limits and Outlook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Not AI against physics, three configured pipelines at single settings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Variant selection and evaluation share the same 303 complexes, with no held-out split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benchmark DiffDock run is one unseeded draw, no arm was run across multiple seeds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Post-2021 release does not exclude training-set leakage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Orai1 rests on three ligands and four correlated frames of one trajectory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 endpoint tests binding free energy, protonation or stability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Match information and compute against current hybrid and co-folding models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Split by protein, pocket and ligand novelty rather than by release date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Add a predicted-pocket Vina arm as the missing intermediate comparison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Batch the learned rescorer, the GPU was idle on a per-pose invocation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Treat the Orai1 poses as testable hypotheses for mutagenesis, competition assays and ligand-bound simulation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experimental follow-up continues at JKU Linz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</Words>
  <Application>Microsoft Office PowerPoint</Application>
  <PresentationFormat>Bildschirmpräsentation (16:9)</PresentationFormat>
  <Paragraphs>21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</vt:lpstr>
      <vt:lpstr>Anmerkungen zur Vorlage</vt:lpstr>
      <vt:lpstr>Titel</vt:lpstr>
      <vt:lpstr>Titel</vt:lpstr>
      <vt:lpstr>Titel</vt:lpstr>
      <vt:lpstr>Titel</vt:lpstr>
      <vt:lpstr>Titel</vt:lpstr>
      <vt:lpstr>PowerPoint-Präsentation</vt:lpstr>
      <vt:lpstr>PowerPoint-Präsentation</vt:lpstr>
    </vt:vector>
  </TitlesOfParts>
  <Company>Fachhochschule Technikum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Anmerkungen zur Vorlage</dc:title>
  <dc:creator>Martin Deinhofer</dc:creator>
  <cp:lastModifiedBy>Martin Deinhofer</cp:lastModifiedBy>
  <cp:revision>1</cp:revision>
  <dcterms:created xsi:type="dcterms:W3CDTF">2022-02-01T17:39:57Z</dcterms:created>
  <dcterms:modified xsi:type="dcterms:W3CDTF">2022-02-01T17:47:44Z</dcterms:modified>
</cp:coreProperties>
</file>